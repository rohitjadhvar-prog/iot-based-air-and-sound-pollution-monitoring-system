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Space Grotesk"/>
      <ns0:bold ns1:id="rIdFont16"/>
      <ns0:regular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b913cbfd-a3bd-4798-ac2a-0a1a8f57ad6b.fntdata" /><ns0:Relationship Id="rIdFont17" Type="http://schemas.openxmlformats.org/officeDocument/2006/relationships/font" Target="fonts/75963246-e495-46c3-9ab1-7ed511af01d4.fntdata" /><ns0:Relationship Id="rIdFont18" Type="http://schemas.openxmlformats.org/officeDocument/2006/relationships/font" Target="fonts/3ef8a57e-115e-43ee-9fb3-fe8950c47ecc.fntdata" /><ns0:Relationship Id="rIdFont19" Type="http://schemas.openxmlformats.org/officeDocument/2006/relationships/font" Target="fonts/218a8d82-9fb2-4894-b08e-fcf2e1902c1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705326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0532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97460"/>
            <a:ext cx="752475" cy="2952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F5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14475" y="3497460"/>
            <a:ext cx="885825" cy="2952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F5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2700" y="3497460"/>
            <a:ext cx="742950" cy="2952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F5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2226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HARDWARE PROJECT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8675" y="538162"/>
            <a:ext cx="3743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St. John College of Engineering and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03090"/>
            <a:ext cx="112514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VibeAir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25960"/>
            <a:ext cx="10715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8BDF8"/>
                </a:solidFill>
                <a:latin typeface="Space Grotesk"/>
              </a:rPr>
              <a:t>IoT-based Air &amp; Sound Pollution Monitoring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21335"/>
            <a:ext cx="8334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 compact, portable monitor for local environmental awareness.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0" y="6162526"/>
            <a:ext cx="723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01 /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54610"/>
            <a:ext cx="5429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DD3FC"/>
                </a:solidFill>
                <a:latin typeface="Inter"/>
              </a:rP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554610"/>
            <a:ext cx="676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DD3FC"/>
                </a:solidFill>
                <a:latin typeface="Inter"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100" y="3554610"/>
            <a:ext cx="533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DD3FC"/>
                </a:solidFill>
                <a:latin typeface="Inter"/>
              </a:rPr>
              <a:t>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943451"/>
            <a:ext cx="3869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B.Tech CSE (Data Science) • Second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62526"/>
            <a:ext cx="3869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Guided by Prof. Sachin Sase |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3675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33675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33675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733675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76725"/>
            <a:ext cx="53721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276725"/>
            <a:ext cx="53721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276725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4276725"/>
            <a:ext cx="38100" cy="7429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71800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971800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971800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2971800"/>
            <a:ext cx="2857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514850"/>
            <a:ext cx="33337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514850"/>
            <a:ext cx="3333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34450" y="671512"/>
            <a:ext cx="3257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Second-year B.Tech • CSE (Data Science)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01 • PROJECT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282535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Meet the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31470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Aditya Mishra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571875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PID: EU1258033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8550" y="331470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Rohit Jadhvar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8550" y="3571875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PID: EU1258037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31470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Aryan Chaubal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571875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PID: EU1258034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331470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Pranab Ghorai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00" y="3571875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PID: EU1258035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075" y="4467225"/>
            <a:ext cx="1809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PROJECT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075" y="4629150"/>
            <a:ext cx="19002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Prof. Sachin Sase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2775" y="4467225"/>
            <a:ext cx="38814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HOD &amp; PRINCIPAL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2775" y="4629150"/>
            <a:ext cx="40755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Joslyn Gracias e Vaz / Dr. Kamal Shah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5334000" cy="5048250"/>
          </a:xfrm>
          <a:prstGeom prst="roundRect">
            <a:avLst>
              <a:gd name="adj" fmla="val 301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52550"/>
            <a:ext cx="5334000" cy="5048250"/>
          </a:xfrm>
          <a:prstGeom prst="roundRect">
            <a:avLst>
              <a:gd name="adj" fmla="val 301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91300" y="5572125"/>
            <a:ext cx="4648200" cy="485775"/>
          </a:xfrm>
          <a:prstGeom prst="roundRect">
            <a:avLst>
              <a:gd name="adj" fmla="val 156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9545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1695450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02 • 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Why VibeAir?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5724525"/>
            <a:ext cx="4362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Inter"/>
              </a:rPr>
              <a:t>Design Goal: Low-cost • Portable • Zero Wi-Fi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1704975"/>
            <a:ext cx="19502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F1239"/>
                </a:solidFill>
                <a:latin typeface="Inter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152650"/>
            <a:ext cx="581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11D48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881337"/>
                </a:solidFill>
                <a:latin typeface="Inter"/>
              </a:rPr>
              <a:t> Pollution is not always visible or obvious.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505075"/>
            <a:ext cx="581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11D48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881337"/>
                </a:solidFill>
                <a:latin typeface="Inter"/>
              </a:rPr>
              <a:t> Noise exposure often goes completely unnoticed.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857500"/>
            <a:ext cx="581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11D48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881337"/>
                </a:solidFill>
                <a:latin typeface="Inter"/>
              </a:rPr>
              <a:t> People need simple, real-time local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1704975"/>
            <a:ext cx="168771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4532D"/>
                </a:solidFill>
                <a:latin typeface="Inter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215265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6A34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166534"/>
                </a:solidFill>
                <a:latin typeface="Inter"/>
              </a:rPr>
              <a:t> Sensors measure gas, ambient sound, and climate.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250507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6A34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166534"/>
                </a:solidFill>
                <a:latin typeface="Inter"/>
              </a:rPr>
              <a:t> ESP32 processes sensor values instantly on-board.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285750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6A34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166534"/>
                </a:solidFill>
                <a:latin typeface="Inter"/>
              </a:rPr>
              <a:t> Live LCD updates paired with multi-color status LEDs.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19275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1819275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819275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57700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44577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4457700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05740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05740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057400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695825"/>
            <a:ext cx="17145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695825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695825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03 •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Core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438400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ESP32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695575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Reads input sensors and handles output displays/LEDs.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2438400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MQ-135 Air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725" y="2695575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Detects harmful gases and general air pollution levels.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2438400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Sound Sensor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2695575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Captures ambient noise level changes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5076825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DHT11 / DHT22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334000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Monitors ambient temperature and humidity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5076825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16x2 LCD &amp; LEDs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5334000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Provides visual numeric output and clear status warnings.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5076825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Power Bank (5V)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5334000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Ensures complete mobility and continuous standalone power.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76350"/>
            <a:ext cx="10972800" cy="512445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0800" y="2981325"/>
            <a:ext cx="2095500" cy="1714500"/>
          </a:xfrm>
          <a:prstGeom prst="roundRect">
            <a:avLst>
              <a:gd name="adj" fmla="val 888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2400300"/>
            <a:ext cx="2095500" cy="85725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409950"/>
            <a:ext cx="2095500" cy="85725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4419600"/>
            <a:ext cx="2095500" cy="85725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34326" y="4338637"/>
            <a:ext cx="2133600" cy="542925"/>
          </a:xfrm>
          <a:prstGeom prst="roundRect">
            <a:avLst>
              <a:gd name="adj" fmla="val 21052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53426" y="2795587"/>
            <a:ext cx="1714500" cy="561975"/>
          </a:xfrm>
          <a:prstGeom prst="roundRect">
            <a:avLst>
              <a:gd name="adj" fmla="val 16949"/>
            </a:avLst>
          </a:prstGeom>
          <a:solidFill>
            <a:srgbClr val="F1F5F9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53426" y="3471862"/>
            <a:ext cx="1714500" cy="561975"/>
          </a:xfrm>
          <a:prstGeom prst="roundRect">
            <a:avLst>
              <a:gd name="adj" fmla="val 16949"/>
            </a:avLst>
          </a:prstGeom>
          <a:solidFill>
            <a:srgbClr val="F1F5F9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762" y="361473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050" y="328612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257175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425" y="3581400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5475" y="459105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326" y="3281362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251" y="4495800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 •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Hardware Interconnections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7450" y="3919537"/>
            <a:ext cx="9810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Data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3416" y="3781425"/>
            <a:ext cx="21502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Inter"/>
              </a:rPr>
              <a:t>ESP32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4613" y="4086225"/>
            <a:ext cx="2047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E0F2FE"/>
                </a:solidFill>
                <a:latin typeface="Inter"/>
              </a:rPr>
              <a:t>Processes Inputs &amp; Computes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528" y="2762250"/>
            <a:ext cx="23502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Air Sensor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487" y="2962275"/>
            <a:ext cx="2238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Gas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528" y="3771900"/>
            <a:ext cx="23502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Sound 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487" y="3971925"/>
            <a:ext cx="2238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Noise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528" y="4781550"/>
            <a:ext cx="23502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DHT Sensor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87" y="4981575"/>
            <a:ext cx="2238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Temp &amp; Humidity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251" y="4462462"/>
            <a:ext cx="146018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Inter"/>
              </a:rPr>
              <a:t>Power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251" y="4624387"/>
            <a:ext cx="13906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B45309"/>
                </a:solidFill>
                <a:latin typeface="Inter"/>
              </a:rPr>
              <a:t>5V USB Power Supply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0557" y="2928937"/>
            <a:ext cx="19002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16x2 LCD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5801" y="3090862"/>
            <a:ext cx="18097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"/>
              </a:rPr>
              <a:t>Numeric Readings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0557" y="3605212"/>
            <a:ext cx="19002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Status LEDs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5801" y="3767137"/>
            <a:ext cx="18097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Inter"/>
              </a:rPr>
              <a:t>Visual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95775"/>
            <a:ext cx="10972800" cy="561975"/>
          </a:xfrm>
          <a:prstGeom prst="roundRect">
            <a:avLst>
              <a:gd name="adj" fmla="val 203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57500"/>
            <a:ext cx="207258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85750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580" y="2857500"/>
            <a:ext cx="207258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580" y="285750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59560" y="2857500"/>
            <a:ext cx="207258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59560" y="285750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84541" y="2857500"/>
            <a:ext cx="207258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84541" y="285750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521" y="2857500"/>
            <a:ext cx="207258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521" y="285750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4514850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4514850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514850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05 • WORKING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From Sensing to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048000"/>
            <a:ext cx="178683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5080" y="3048000"/>
            <a:ext cx="178683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0060" y="3048000"/>
            <a:ext cx="178683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5041" y="3048000"/>
            <a:ext cx="178683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0021" y="3048000"/>
            <a:ext cx="178683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486275"/>
            <a:ext cx="1702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Example LED Logic: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352800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590925"/>
            <a:ext cx="178683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Sensors capture air, sound, and climate signals.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5080" y="3352800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5080" y="3590925"/>
            <a:ext cx="178683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ESP32 samples sensor outputs continuously.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0060" y="3352800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0060" y="3590925"/>
            <a:ext cx="178683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Values are evaluated against preset thresholds.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5041" y="3352800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5041" y="3590925"/>
            <a:ext cx="178683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LCD refreshes live metrics automatically.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0021" y="3352800"/>
            <a:ext cx="22201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0021" y="3590925"/>
            <a:ext cx="178683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LED shifts color if threshold is crossed.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9450" y="4495800"/>
            <a:ext cx="1535906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Green = 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6775" y="4495800"/>
            <a:ext cx="1607343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Yellow = 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1250" y="4495800"/>
            <a:ext cx="1738312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Red = High Hazard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5562600" cy="1514475"/>
          </a:xfrm>
          <a:prstGeom prst="roundRect">
            <a:avLst>
              <a:gd name="adj" fmla="val 1006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3309937"/>
            <a:ext cx="5105400" cy="1057275"/>
          </a:xfrm>
          <a:prstGeom prst="roundRect">
            <a:avLst>
              <a:gd name="adj" fmla="val 7207"/>
            </a:avLst>
          </a:prstGeom>
          <a:solidFill>
            <a:srgbClr val="000000"/>
          </a:solidFill>
          <a:ln w="381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048000"/>
            <a:ext cx="5105400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3914775"/>
            <a:ext cx="5105400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06 • ON-DEVICE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209925"/>
            <a:ext cx="5553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Instant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438525"/>
            <a:ext cx="55530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Clear layout on a standard 16x2 LCD display.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6700"/>
            <a:ext cx="5553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Color-Coded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4305300"/>
            <a:ext cx="55530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LED status updates eliminate technical jargon for immediate understanding.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576637"/>
            <a:ext cx="8803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2C55E"/>
                </a:solidFill>
                <a:latin typeface="monospace"/>
              </a:rPr>
              <a:t>AIR: 168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8066" y="3576637"/>
            <a:ext cx="95458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2C55E"/>
                </a:solidFill>
                <a:latin typeface="monospace"/>
              </a:rPr>
              <a:t>SOUND: 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957637"/>
            <a:ext cx="102884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2C55E"/>
                </a:solidFill>
                <a:latin typeface="monospace"/>
              </a:rPr>
              <a:t>TEMP: 29°C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2331" y="3957637"/>
            <a:ext cx="8803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2C55E"/>
                </a:solidFill>
                <a:latin typeface="monospace"/>
              </a:rPr>
              <a:t>HUM: 62%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14450"/>
            <a:ext cx="3505200" cy="50863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71625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57162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57162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07 • VALIDATION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Build, Test, 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552575"/>
            <a:ext cx="3975496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Test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552575"/>
            <a:ext cx="3975496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Inter"/>
              </a:rPr>
              <a:t>Important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1552575"/>
            <a:ext cx="3876675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9050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Validate each sensor independently.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18122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Test in quiet vs. noisy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45745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Ensure stable power bank operation.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9050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Low-cost MQ sensors give relative levels.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218122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Sound modules require calibration.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245745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Values are for prototype demonstration.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19050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Add calibrated PM2.5 / PM10 sensors.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218122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Include audio buzzer &amp; SD card logging.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245745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Enclosure design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52787" y="3686175"/>
            <a:ext cx="5686425" cy="1057275"/>
          </a:xfrm>
          <a:prstGeom prst="roundRect">
            <a:avLst>
              <a:gd name="adj" fmla="val 1081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765" y="2114550"/>
            <a:ext cx="1213246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Measure what you can't always see or hear.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2847975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VibeAir combines environmental sensors, ESP32, LCD, and status LEDs in a portable standalone 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6847" y="3924300"/>
            <a:ext cx="643830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38BDF8"/>
                </a:solidFill>
                <a:latin typeface="Space Grotesk"/>
              </a:rPr>
              <a:t>THANK YOU •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0140" y="4343400"/>
            <a:ext cx="6131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"/>
              </a:rPr>
              <a:t>St. John College of Engineering and Management | B.Tech CSE (Data Science)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